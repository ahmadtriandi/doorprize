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Deck ini merangkum manual lengkap. Bagikan ke seluruh panitia sebelum gladi bersih.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Tutup sesi dengan mengingatkan: manual lengkap ada di berkas MANUAL.md.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3B07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223760" y="-822960"/>
            <a:ext cx="2834640" cy="2834640"/>
          </a:xfrm>
          <a:prstGeom prst="ellipse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138160" y="3566160"/>
            <a:ext cx="1554480" cy="1554480"/>
          </a:xfrm>
          <a:prstGeom prst="ellipse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85800" y="13716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PANDUAN PANITIA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1783080"/>
            <a:ext cx="60350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Manual Aplikasi</a:t>
            </a:r>
            <a:endParaRPr lang="en-US" sz="4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Doorprize</a:t>
            </a:r>
            <a:endParaRPr lang="en-US" sz="40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3429000"/>
            <a:ext cx="5852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Menyiapkan data, menjalankan undian, dan mencatat pemenang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41B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Tiga halaman, tiga peran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6012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63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Dua halaman pertama sengaja tanpa login agar praktis di komputer proyektor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2514600" cy="2514600"/>
          </a:xfrm>
          <a:prstGeom prst="roundRect">
            <a:avLst>
              <a:gd name="adj" fmla="val 4364"/>
            </a:avLst>
          </a:prstGeom>
          <a:solidFill>
            <a:srgbClr val="EDE9FE"/>
          </a:solidFill>
          <a:ln w="12700">
            <a:solidFill>
              <a:srgbClr val="EDE9F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1783080"/>
            <a:ext cx="420624" cy="420624"/>
          </a:xfrm>
          <a:prstGeom prst="ellipse">
            <a:avLst/>
          </a:prstGeom>
          <a:solidFill>
            <a:srgbClr val="6D28D9"/>
          </a:solidFill>
          <a:ln>
            <a:solidFill>
              <a:srgbClr val="6D28D9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2331720"/>
            <a:ext cx="2057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41B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Layar undian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2670048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2999232"/>
            <a:ext cx="2057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63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Ditampilkan ke penonton lewat proyektor. Tempat tombol Start dan Stop.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291840" y="1554480"/>
            <a:ext cx="2514600" cy="2514600"/>
          </a:xfrm>
          <a:prstGeom prst="roundRect">
            <a:avLst>
              <a:gd name="adj" fmla="val 4364"/>
            </a:avLst>
          </a:prstGeom>
          <a:solidFill>
            <a:srgbClr val="EDE9FE"/>
          </a:solidFill>
          <a:ln w="12700">
            <a:solidFill>
              <a:srgbClr val="EDE9FE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520440" y="1783080"/>
            <a:ext cx="420624" cy="420624"/>
          </a:xfrm>
          <a:prstGeom prst="ellipse">
            <a:avLst/>
          </a:prstGeom>
          <a:solidFill>
            <a:srgbClr val="6D28D9"/>
          </a:solidFill>
          <a:ln>
            <a:solidFill>
              <a:srgbClr val="6D28D9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3520440" y="2331720"/>
            <a:ext cx="2057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41B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Layar pemenang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3520440" y="2670048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/pemenang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3520440" y="2999232"/>
            <a:ext cx="2057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63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Foto hadiah di kiri, daftar nama pemenang di kanan. Menyegarkan sendiri.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035040" y="1554480"/>
            <a:ext cx="2514600" cy="2514600"/>
          </a:xfrm>
          <a:prstGeom prst="roundRect">
            <a:avLst>
              <a:gd name="adj" fmla="val 4364"/>
            </a:avLst>
          </a:prstGeom>
          <a:solidFill>
            <a:srgbClr val="EDE9FE"/>
          </a:solidFill>
          <a:ln w="12700">
            <a:solidFill>
              <a:srgbClr val="EDE9FE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263640" y="1783080"/>
            <a:ext cx="420624" cy="420624"/>
          </a:xfrm>
          <a:prstGeom prst="ellipse">
            <a:avLst/>
          </a:prstGeom>
          <a:solidFill>
            <a:srgbClr val="6D28D9"/>
          </a:solidFill>
          <a:ln>
            <a:solidFill>
              <a:srgbClr val="6D28D9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6263640" y="2331720"/>
            <a:ext cx="2057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41B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Dashboard panitia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6263640" y="2670048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/panel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6263640" y="2999232"/>
            <a:ext cx="2057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63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Mengatur peserta, hadiah, dan tampilan. Perlu nama pengguna dan sandi.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41B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Undian ditentukan server, bukan browser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6012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63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Pertanyaan ini hampir pasti muncul dari peserta — panitia perlu bisa menjawabnya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3931920" cy="2651760"/>
          </a:xfrm>
          <a:prstGeom prst="roundRect">
            <a:avLst>
              <a:gd name="adj" fmla="val 4138"/>
            </a:avLst>
          </a:prstGeom>
          <a:solidFill>
            <a:srgbClr val="EDE9FE"/>
          </a:solidFill>
          <a:ln w="12700">
            <a:solidFill>
              <a:srgbClr val="EDE9F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68680" y="187452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41B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Yang menjamin keadilan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868680" y="2286000"/>
            <a:ext cx="32918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241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Pemenang diundi server dengan fungsi acak kriptografis</a:t>
            </a:r>
            <a:endParaRPr lang="en-US" sz="12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241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Hasilnya tidak bisa diintip atau diubah dari komputer layar</a:t>
            </a:r>
            <a:endParaRPr lang="en-US" sz="12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241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Setiap pemenang dicatat lengkap dengan waktu undinya</a:t>
            </a:r>
            <a:endParaRPr lang="en-US" sz="12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241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Satu orang tidak bisa menang hadiah sama dua kali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663440" y="1600200"/>
            <a:ext cx="3931920" cy="2651760"/>
          </a:xfrm>
          <a:prstGeom prst="roundRect">
            <a:avLst>
              <a:gd name="adj" fmla="val 4138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983480" y="187452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41B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Yang perlu diluruskan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4983480" y="2286000"/>
            <a:ext cx="3291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41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Animasi nama berputar murni tampilan. Berhenti di detik ke berapa pun tidak memengaruhi siapa yang menang.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4983480" y="3154680"/>
            <a:ext cx="3291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63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Teks nama sengaja dikaburkan selama berputar cepat, supaya tidak ada nama yang sempat terbaca lalu terasa berbeda dengan pemenangnya.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41B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Alur persiapan sebelum acara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6012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63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Urutan ini penting: hadiah harus ada sebelum grup pengecualian bisa dipasang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868680" y="1828800"/>
            <a:ext cx="566928" cy="566928"/>
          </a:xfrm>
          <a:prstGeom prst="ellipse">
            <a:avLst/>
          </a:prstGeom>
          <a:solidFill>
            <a:srgbClr val="6D28D9"/>
          </a:solidFill>
          <a:ln>
            <a:solidFill>
              <a:srgbClr val="6D28D9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502920" y="2560320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41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 peserta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1508760" y="2112264"/>
            <a:ext cx="594360" cy="0"/>
          </a:xfrm>
          <a:prstGeom prst="line">
            <a:avLst/>
          </a:prstGeom>
          <a:noFill/>
          <a:ln w="25400">
            <a:solidFill>
              <a:srgbClr val="DDD6F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2496312" y="1828800"/>
            <a:ext cx="566928" cy="566928"/>
          </a:xfrm>
          <a:prstGeom prst="ellipse">
            <a:avLst/>
          </a:prstGeom>
          <a:solidFill>
            <a:srgbClr val="6D28D9"/>
          </a:solidFill>
          <a:ln>
            <a:solidFill>
              <a:srgbClr val="6D28D9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2130552" y="2560320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41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Isi hadiah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136392" y="2112264"/>
            <a:ext cx="594360" cy="0"/>
          </a:xfrm>
          <a:prstGeom prst="line">
            <a:avLst/>
          </a:prstGeom>
          <a:noFill/>
          <a:ln w="25400">
            <a:solidFill>
              <a:srgbClr val="DDD6FE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123944" y="1828800"/>
            <a:ext cx="566928" cy="566928"/>
          </a:xfrm>
          <a:prstGeom prst="ellipse">
            <a:avLst/>
          </a:prstGeom>
          <a:solidFill>
            <a:srgbClr val="6D28D9"/>
          </a:solidFill>
          <a:ln>
            <a:solidFill>
              <a:srgbClr val="6D28D9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3758184" y="2560320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41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Buat grup pengecualian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764024" y="2112264"/>
            <a:ext cx="594360" cy="0"/>
          </a:xfrm>
          <a:prstGeom prst="line">
            <a:avLst/>
          </a:prstGeom>
          <a:noFill/>
          <a:ln w="25400">
            <a:solidFill>
              <a:srgbClr val="DDD6FE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751576" y="1828800"/>
            <a:ext cx="566928" cy="566928"/>
          </a:xfrm>
          <a:prstGeom prst="ellipse">
            <a:avLst/>
          </a:prstGeom>
          <a:solidFill>
            <a:srgbClr val="6D28D9"/>
          </a:solidFill>
          <a:ln>
            <a:solidFill>
              <a:srgbClr val="6D28D9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5385816" y="2560320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41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Atur tampilan layar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391656" y="2112264"/>
            <a:ext cx="594360" cy="0"/>
          </a:xfrm>
          <a:prstGeom prst="line">
            <a:avLst/>
          </a:prstGeom>
          <a:noFill/>
          <a:ln w="25400">
            <a:solidFill>
              <a:srgbClr val="DDD6FE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379208" y="1828800"/>
            <a:ext cx="566928" cy="566928"/>
          </a:xfrm>
          <a:prstGeom prst="ellipse">
            <a:avLst/>
          </a:prstGeom>
          <a:solidFill>
            <a:srgbClr val="6D28D9"/>
          </a:solidFill>
          <a:ln>
            <a:solidFill>
              <a:srgbClr val="6D28D9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7013448" y="2560320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41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Gladi bersih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548640" y="3520440"/>
            <a:ext cx="8046720" cy="777240"/>
          </a:xfrm>
          <a:prstGeom prst="roundRect">
            <a:avLst>
              <a:gd name="adj" fmla="val 14118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868680" y="3703320"/>
            <a:ext cx="7406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41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Setelah gladi bersih, hapus datanya lewat menu Pemenang → "Ulangi undian hadiah ini". Data uji coba yang tertinggal akan terbawa ke acara sungguhan.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41B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Memasukkan peserta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6012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63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Menu Peserta — impor CSV atau Excel untuk data banyak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5544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41B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Format berkas</a:t>
            </a:r>
            <a:endParaRPr lang="en-US" sz="15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920240"/>
          <a:ext cx="4663440" cy="914400"/>
        </p:xfrm>
        <a:graphic>
          <a:graphicData uri="http://schemas.openxmlformats.org/drawingml/2006/table">
            <a:tbl>
              <a:tblPr/>
              <a:tblGrid>
                <a:gridCol w="1737360"/>
                <a:gridCol w="1828800"/>
                <a:gridCol w="1097280"/>
              </a:tblGrid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41B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nip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D6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6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6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6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41B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nama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D6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6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6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6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41B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unit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D6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6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6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6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1B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198701012010011001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D6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6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6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6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1B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Ditha Paramitha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D6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6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6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6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1B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Produksi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D6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6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6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6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1B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198903152012012002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D6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6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6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6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1B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Yunus Anggoro Muchlis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D6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6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6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6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1B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Maintenance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D6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6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6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6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 txBox="1"/>
          <p:nvPr/>
        </p:nvSpPr>
        <p:spPr>
          <a:xfrm>
            <a:off x="548640" y="3200400"/>
            <a:ext cx="4663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63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Kolom unit boleh kosong. Urutan kolom bebas. Klik Unduh template kalau ragu.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5532120" y="1554480"/>
            <a:ext cx="3063240" cy="2697480"/>
          </a:xfrm>
          <a:prstGeom prst="roundRect">
            <a:avLst>
              <a:gd name="adj" fmla="val 4068"/>
            </a:avLst>
          </a:prstGeom>
          <a:solidFill>
            <a:srgbClr val="EDE9FE"/>
          </a:solidFill>
          <a:ln w="12700">
            <a:solidFill>
              <a:srgbClr val="EDE9FE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5852160" y="178308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41B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NIP adalah kuncinya</a:t>
            </a:r>
            <a:endParaRPr lang="en-US" sz="1500" dirty="0"/>
          </a:p>
        </p:txBody>
      </p:sp>
      <p:sp>
        <p:nvSpPr>
          <p:cNvPr id="9" name="Text 6"/>
          <p:cNvSpPr txBox="1"/>
          <p:nvPr/>
        </p:nvSpPr>
        <p:spPr>
          <a:xfrm>
            <a:off x="5852160" y="2194560"/>
            <a:ext cx="24688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241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 ulang berkas yang sama memperbarui data, bukan menggandakan</a:t>
            </a:r>
            <a:endParaRPr lang="en-US" sz="11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241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Salah ketik nama cukup dibetulkan di Excel lalu impor lagi</a:t>
            </a:r>
            <a:endParaRPr lang="en-US" sz="11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241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Centang "Hapus semua peserta lama" hanya kalau ingin ganti seluruh daftar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41B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Mengisi hadiah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6012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63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Dua angka yang paling sering tertukar ada di sebelah kanan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3931920" cy="2697480"/>
          </a:xfrm>
          <a:prstGeom prst="roundRect">
            <a:avLst>
              <a:gd name="adj" fmla="val 4068"/>
            </a:avLst>
          </a:prstGeom>
          <a:solidFill>
            <a:srgbClr val="EDE9FE"/>
          </a:solidFill>
          <a:ln w="12700">
            <a:solidFill>
              <a:srgbClr val="EDE9F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68680" y="178308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41B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Yang perlu diisi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868680" y="2194560"/>
            <a:ext cx="32918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241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Nama hadiah — tulis lengkap seperti di kemasan</a:t>
            </a:r>
            <a:endParaRPr lang="en-US" sz="12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241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Foto hadiah — pakai gambar berlatar polos</a:t>
            </a:r>
            <a:endParaRPr lang="en-US" sz="12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241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Sponsor dan urutan — opsional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663440" y="1554480"/>
            <a:ext cx="3931920" cy="2697480"/>
          </a:xfrm>
          <a:prstGeom prst="roundRect">
            <a:avLst>
              <a:gd name="adj" fmla="val 4068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983480" y="178308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41B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Jumlah pemenang vs per putaran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4983480" y="2194560"/>
            <a:ext cx="3291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41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Jumlah pemenang = berapa unit hadiah tersedia.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41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Pemenang per putaran = berapa nama keluar sekali tekan Stop.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4983480" y="3063240"/>
            <a:ext cx="3291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Contoh: 10 voucher dengan 2 nama per putaran akan selesai dalam 5 kali putaran.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3B07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Menjalankan undian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6012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Buka / di komputer proyektor, lalu tekan F11 agar layar penuh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2514600" cy="1965960"/>
          </a:xfrm>
          <a:prstGeom prst="roundRect">
            <a:avLst>
              <a:gd name="adj" fmla="val 5581"/>
            </a:avLst>
          </a:prstGeom>
          <a:solidFill>
            <a:srgbClr val="4C1D95"/>
          </a:solidFill>
          <a:ln w="12700">
            <a:solidFill>
              <a:srgbClr val="4C1D95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1828800"/>
            <a:ext cx="420624" cy="420624"/>
          </a:xfrm>
          <a:prstGeom prst="ellipse">
            <a:avLst/>
          </a:prstGeom>
          <a:solidFill>
            <a:srgbClr val="6D28D9"/>
          </a:solidFill>
          <a:ln>
            <a:solidFill>
              <a:srgbClr val="6D28D9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2359152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BBF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Pilih hadiah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2697480"/>
            <a:ext cx="2057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9D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Tekan "Undi ini" di menu Ringkasan, atau lewat menu pojok kiri bawah layar.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3291840" y="1600200"/>
            <a:ext cx="2514600" cy="1965960"/>
          </a:xfrm>
          <a:prstGeom prst="roundRect">
            <a:avLst>
              <a:gd name="adj" fmla="val 5581"/>
            </a:avLst>
          </a:prstGeom>
          <a:solidFill>
            <a:srgbClr val="4C1D95"/>
          </a:solidFill>
          <a:ln w="12700">
            <a:solidFill>
              <a:srgbClr val="4C1D95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520440" y="1828800"/>
            <a:ext cx="420624" cy="420624"/>
          </a:xfrm>
          <a:prstGeom prst="ellipse">
            <a:avLst/>
          </a:prstGeom>
          <a:solidFill>
            <a:srgbClr val="6D28D9"/>
          </a:solidFill>
          <a:ln>
            <a:solidFill>
              <a:srgbClr val="6D28D9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3520440" y="2359152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BBF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Tekan Start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3520440" y="2697480"/>
            <a:ext cx="2057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9D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Nama berputar cepat diiringi suara menegangkan.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035040" y="1600200"/>
            <a:ext cx="2514600" cy="1965960"/>
          </a:xfrm>
          <a:prstGeom prst="roundRect">
            <a:avLst>
              <a:gd name="adj" fmla="val 5581"/>
            </a:avLst>
          </a:prstGeom>
          <a:solidFill>
            <a:srgbClr val="4C1D95"/>
          </a:solidFill>
          <a:ln w="12700">
            <a:solidFill>
              <a:srgbClr val="4C1D95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263640" y="1828800"/>
            <a:ext cx="420624" cy="420624"/>
          </a:xfrm>
          <a:prstGeom prst="ellipse">
            <a:avLst/>
          </a:prstGeom>
          <a:solidFill>
            <a:srgbClr val="6D28D9"/>
          </a:solidFill>
          <a:ln>
            <a:solidFill>
              <a:srgbClr val="6D28D9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6263640" y="2359152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BBF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Tekan Stop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6263640" y="2697480"/>
            <a:ext cx="2057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9D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Nama pemenang muncul disertai bunyi lonceng.</a:t>
            </a:r>
            <a:endParaRPr lang="en-US" sz="1150" dirty="0"/>
          </a:p>
        </p:txBody>
      </p:sp>
      <p:sp>
        <p:nvSpPr>
          <p:cNvPr id="16" name="Text 14"/>
          <p:cNvSpPr txBox="1"/>
          <p:nvPr/>
        </p:nvSpPr>
        <p:spPr>
          <a:xfrm>
            <a:off x="548640" y="384048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Tombol spasi juga berfungsi sebagai Start dan Stop. Klik Start dengan mouse sekali di awal acara agar browser mengizinkan suara berbunyi.</a:t>
            </a:r>
            <a:endParaRPr lang="en-US" sz="1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41B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Menu di pojok kiri bawah layar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6012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63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Semua yang dibutuhkan pembawa acara tanpa membuka dashboard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94360" y="1627632"/>
            <a:ext cx="201168" cy="201168"/>
          </a:xfrm>
          <a:prstGeom prst="ellipse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60120" y="155448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41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Pindah undian</a:t>
            </a:r>
            <a:endParaRPr lang="en-US" sz="1350" dirty="0"/>
          </a:p>
        </p:txBody>
      </p:sp>
      <p:sp>
        <p:nvSpPr>
          <p:cNvPr id="6" name="Text 4"/>
          <p:cNvSpPr txBox="1"/>
          <p:nvPr/>
        </p:nvSpPr>
        <p:spPr>
          <a:xfrm>
            <a:off x="3200400" y="1581912"/>
            <a:ext cx="5394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63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Daftar semua hadiah beserta sisa kuotanya, sekali klik langsung berpindah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94360" y="2194560"/>
            <a:ext cx="201168" cy="201168"/>
          </a:xfrm>
          <a:prstGeom prst="ellipse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960120" y="2121408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41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Lihat daftar pemenang</a:t>
            </a:r>
            <a:endParaRPr lang="en-US" sz="1350" dirty="0"/>
          </a:p>
        </p:txBody>
      </p:sp>
      <p:sp>
        <p:nvSpPr>
          <p:cNvPr id="9" name="Text 7"/>
          <p:cNvSpPr txBox="1"/>
          <p:nvPr/>
        </p:nvSpPr>
        <p:spPr>
          <a:xfrm>
            <a:off x="3200400" y="2148840"/>
            <a:ext cx="5394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63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Membuka layar pemenang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94360" y="2761488"/>
            <a:ext cx="201168" cy="201168"/>
          </a:xfrm>
          <a:prstGeom prst="ellipse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" y="2688336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41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Layar penuh</a:t>
            </a:r>
            <a:endParaRPr lang="en-US" sz="1350" dirty="0"/>
          </a:p>
        </p:txBody>
      </p:sp>
      <p:sp>
        <p:nvSpPr>
          <p:cNvPr id="12" name="Text 10"/>
          <p:cNvSpPr txBox="1"/>
          <p:nvPr/>
        </p:nvSpPr>
        <p:spPr>
          <a:xfrm>
            <a:off x="3200400" y="2715768"/>
            <a:ext cx="5394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63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Menyalakan atau mematikan mode layar penuh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94360" y="3328416"/>
            <a:ext cx="201168" cy="201168"/>
          </a:xfrm>
          <a:prstGeom prst="ellipse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960120" y="3255264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41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Muat ulang daftar</a:t>
            </a:r>
            <a:endParaRPr lang="en-US" sz="1350" dirty="0"/>
          </a:p>
        </p:txBody>
      </p:sp>
      <p:sp>
        <p:nvSpPr>
          <p:cNvPr id="15" name="Text 13"/>
          <p:cNvSpPr txBox="1"/>
          <p:nvPr/>
        </p:nvSpPr>
        <p:spPr>
          <a:xfrm>
            <a:off x="3200400" y="3282696"/>
            <a:ext cx="5394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63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Menyegarkan halaman setelah ada perubahan di dashboard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94360" y="3895344"/>
            <a:ext cx="201168" cy="201168"/>
          </a:xfrm>
          <a:prstGeom prst="ellipse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960120" y="3822192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41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Suara</a:t>
            </a:r>
            <a:endParaRPr lang="en-US" sz="1350" dirty="0"/>
          </a:p>
        </p:txBody>
      </p:sp>
      <p:sp>
        <p:nvSpPr>
          <p:cNvPr id="18" name="Text 16"/>
          <p:cNvSpPr txBox="1"/>
          <p:nvPr/>
        </p:nvSpPr>
        <p:spPr>
          <a:xfrm>
            <a:off x="3200400" y="3849624"/>
            <a:ext cx="5394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63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Membisukan sementara saat pembawa acara sedang bicara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48640" y="4434840"/>
            <a:ext cx="8046720" cy="502920"/>
          </a:xfrm>
          <a:prstGeom prst="roundRect">
            <a:avLst>
              <a:gd name="adj" fmla="val 21818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868680" y="4544568"/>
            <a:ext cx="7406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41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Nyalakan "Kunci menu pindah undian" kalau komputer proyektor bisa disentuh siapa saja.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41B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Dua pilihan tampilan papan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6012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63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Tampilan layar → Aturan undian → Tampilan papan saat mengundi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3931920" cy="2743200"/>
          </a:xfrm>
          <a:prstGeom prst="roundRect">
            <a:avLst>
              <a:gd name="adj" fmla="val 4000"/>
            </a:avLst>
          </a:prstGeom>
          <a:solidFill>
            <a:srgbClr val="EDE9FE"/>
          </a:solidFill>
          <a:ln w="12700">
            <a:solidFill>
              <a:srgbClr val="EDE9F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68680" y="178308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6D28D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Daftar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868680" y="2176272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41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Semua nama peserta tampil, satu nama disorot bergantian.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868680" y="2743200"/>
            <a:ext cx="3291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63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Cocok untuk peserta sampai sekitar 70 orang di layar 1920 × 1080. Di atas itu huruf mulai sulit dibaca dari kursi belakang.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663440" y="1554480"/>
            <a:ext cx="3931920" cy="2743200"/>
          </a:xfrm>
          <a:prstGeom prst="roundRect">
            <a:avLst>
              <a:gd name="adj" fmla="val 4000"/>
            </a:avLst>
          </a:prstGeom>
          <a:solidFill>
            <a:srgbClr val="EDE9FE"/>
          </a:solidFill>
          <a:ln w="12700">
            <a:solidFill>
              <a:srgbClr val="EDE9F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983480" y="178308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6D28D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Papan kosong</a:t>
            </a:r>
            <a:endParaRPr lang="en-US" sz="1700" dirty="0"/>
          </a:p>
        </p:txBody>
      </p:sp>
      <p:sp>
        <p:nvSpPr>
          <p:cNvPr id="10" name="Text 8"/>
          <p:cNvSpPr txBox="1"/>
          <p:nvPr/>
        </p:nvSpPr>
        <p:spPr>
          <a:xfrm>
            <a:off x="4983480" y="2176272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41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Hanya kolom pemenang. Kosong sebelum Start, terisi saat Stop.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4983480" y="2743200"/>
            <a:ext cx="3291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63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Pilihan yang tepat kalau pesertanya ratusan sehingga tidak mungkin muat di layar.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41B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Pengaturan yang mengubah rasa undian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6012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63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Coba keduanya saat gladi bersih, lalu kunci yang paling cocok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8046720" cy="603504"/>
          </a:xfrm>
          <a:prstGeom prst="roundRect">
            <a:avLst>
              <a:gd name="adj" fmla="val 18182"/>
            </a:avLst>
          </a:prstGeom>
          <a:solidFill>
            <a:srgbClr val="EDE9FE"/>
          </a:solidFill>
          <a:ln w="12700">
            <a:solidFill>
              <a:srgbClr val="EDE9F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68680" y="1746504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41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Waktu pengundian</a:t>
            </a:r>
            <a:endParaRPr lang="en-US" sz="1350" dirty="0"/>
          </a:p>
        </p:txBody>
      </p:sp>
      <p:sp>
        <p:nvSpPr>
          <p:cNvPr id="6" name="Text 4"/>
          <p:cNvSpPr txBox="1"/>
          <p:nvPr/>
        </p:nvSpPr>
        <p:spPr>
          <a:xfrm>
            <a:off x="3017520" y="1746504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Saat Start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4480560" y="1755648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63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Nama keluar seketika saat Stop, tanpa jeda jaringan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48640" y="2313432"/>
            <a:ext cx="8046720" cy="603504"/>
          </a:xfrm>
          <a:prstGeom prst="roundRect">
            <a:avLst>
              <a:gd name="adj" fmla="val 18182"/>
            </a:avLst>
          </a:prstGeom>
          <a:solidFill>
            <a:srgbClr val="EDE9FE"/>
          </a:solidFill>
          <a:ln w="12700">
            <a:solidFill>
              <a:srgbClr val="EDE9F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868680" y="2459736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41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Cara berhenti</a:t>
            </a:r>
            <a:endParaRPr lang="en-US" sz="1350" dirty="0"/>
          </a:p>
        </p:txBody>
      </p:sp>
      <p:sp>
        <p:nvSpPr>
          <p:cNvPr id="10" name="Text 8"/>
          <p:cNvSpPr txBox="1"/>
          <p:nvPr/>
        </p:nvSpPr>
        <p:spPr>
          <a:xfrm>
            <a:off x="3017520" y="2459736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Langsung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4480560" y="246888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63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Nama muncul seketika, tanpa perlambatan dramatis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48640" y="3026664"/>
            <a:ext cx="8046720" cy="603504"/>
          </a:xfrm>
          <a:prstGeom prst="roundRect">
            <a:avLst>
              <a:gd name="adj" fmla="val 18182"/>
            </a:avLst>
          </a:prstGeom>
          <a:solidFill>
            <a:srgbClr val="EDE9FE"/>
          </a:solidFill>
          <a:ln w="12700">
            <a:solidFill>
              <a:srgbClr val="EDE9FE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68680" y="3172968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41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Berhenti otomatis</a:t>
            </a:r>
            <a:endParaRPr lang="en-US" sz="1350" dirty="0"/>
          </a:p>
        </p:txBody>
      </p:sp>
      <p:sp>
        <p:nvSpPr>
          <p:cNvPr id="14" name="Text 12"/>
          <p:cNvSpPr txBox="1"/>
          <p:nvPr/>
        </p:nvSpPr>
        <p:spPr>
          <a:xfrm>
            <a:off x="3017520" y="3172968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Mati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4480560" y="3182112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63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Putaran berlanjut sampai Stop ditekan, tanpa batas waktu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48640" y="3739896"/>
            <a:ext cx="8046720" cy="603504"/>
          </a:xfrm>
          <a:prstGeom prst="roundRect">
            <a:avLst>
              <a:gd name="adj" fmla="val 18182"/>
            </a:avLst>
          </a:prstGeom>
          <a:solidFill>
            <a:srgbClr val="EDE9FE"/>
          </a:solidFill>
          <a:ln w="12700">
            <a:solidFill>
              <a:srgbClr val="EDE9FE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868680" y="388620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41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Tata letak layar</a:t>
            </a:r>
            <a:endParaRPr lang="en-US" sz="1350" dirty="0"/>
          </a:p>
        </p:txBody>
      </p:sp>
      <p:sp>
        <p:nvSpPr>
          <p:cNvPr id="18" name="Text 16"/>
          <p:cNvSpPr txBox="1"/>
          <p:nvPr/>
        </p:nvSpPr>
        <p:spPr>
          <a:xfrm>
            <a:off x="3017520" y="388620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Otomatis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4480560" y="3895344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63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Tegak untuk layar biasa, samping untuk videotron lebar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548640" y="452628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6B63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Kolom tengah adalah nilai bawaannya.</a:t>
            </a:r>
            <a:endParaRPr lang="en-US" sz="11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41B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Grup pengecualian peserta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6012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63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Untuk kasus seperti panitia tidak boleh menang hadiah utama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2514600" cy="2011680"/>
          </a:xfrm>
          <a:prstGeom prst="roundRect">
            <a:avLst>
              <a:gd name="adj" fmla="val 5455"/>
            </a:avLst>
          </a:prstGeom>
          <a:solidFill>
            <a:srgbClr val="EDE9FE"/>
          </a:solidFill>
          <a:ln w="12700">
            <a:solidFill>
              <a:srgbClr val="EDE9F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1783080"/>
            <a:ext cx="2057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41B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Pencarian langsung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2377440"/>
            <a:ext cx="2057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63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Ketik nama atau NIP, hasil muncul seketika, klik Tambah</a:t>
            </a:r>
            <a:endParaRPr lang="en-US" sz="115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3154680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Beberapa orang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3291840" y="1554480"/>
            <a:ext cx="2514600" cy="2011680"/>
          </a:xfrm>
          <a:prstGeom prst="roundRect">
            <a:avLst>
              <a:gd name="adj" fmla="val 5455"/>
            </a:avLst>
          </a:prstGeom>
          <a:solidFill>
            <a:srgbClr val="EDE9FE"/>
          </a:solidFill>
          <a:ln w="12700">
            <a:solidFill>
              <a:srgbClr val="EDE9F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520440" y="1783080"/>
            <a:ext cx="2057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41B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Satu unit sekaligus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3520440" y="2377440"/>
            <a:ext cx="2057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63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Pilih unit kerja, seluruh anggotanya langsung masuk</a:t>
            </a:r>
            <a:endParaRPr lang="en-US" sz="1150" dirty="0"/>
          </a:p>
        </p:txBody>
      </p:sp>
      <p:sp>
        <p:nvSpPr>
          <p:cNvPr id="11" name="Text 9"/>
          <p:cNvSpPr txBox="1"/>
          <p:nvPr/>
        </p:nvSpPr>
        <p:spPr>
          <a:xfrm>
            <a:off x="3520440" y="3154680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divisi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035040" y="1554480"/>
            <a:ext cx="2514600" cy="2011680"/>
          </a:xfrm>
          <a:prstGeom prst="roundRect">
            <a:avLst>
              <a:gd name="adj" fmla="val 5455"/>
            </a:avLst>
          </a:prstGeom>
          <a:solidFill>
            <a:srgbClr val="EDE9FE"/>
          </a:solidFill>
          <a:ln w="12700">
            <a:solidFill>
              <a:srgbClr val="EDE9FE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263640" y="1783080"/>
            <a:ext cx="2057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41B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Tempel daftar NIP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6263640" y="2377440"/>
            <a:ext cx="2057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63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Salin kolom NIP dari Excel lalu tempel apa adanya</a:t>
            </a:r>
            <a:endParaRPr lang="en-US" sz="1150" dirty="0"/>
          </a:p>
        </p:txBody>
      </p:sp>
      <p:sp>
        <p:nvSpPr>
          <p:cNvPr id="15" name="Text 13"/>
          <p:cNvSpPr txBox="1"/>
          <p:nvPr/>
        </p:nvSpPr>
        <p:spPr>
          <a:xfrm>
            <a:off x="6263640" y="3154680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Puluhan sampai ratusan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48640" y="3794760"/>
            <a:ext cx="8046720" cy="868680"/>
          </a:xfrm>
          <a:prstGeom prst="roundRect">
            <a:avLst>
              <a:gd name="adj" fmla="val 12632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868680" y="3977640"/>
            <a:ext cx="7406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41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Pengecualian menempel pada hadiah, bukan pada orangnya. Begitu pindah ke hadiah berikutnya, anggota grup otomatis ikut undian lagi — tidak ada yang perlu diingat panitia.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41B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Mengelola pemenang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6012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63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Menu Pemenang di dashboard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3931920" cy="1234440"/>
          </a:xfrm>
          <a:prstGeom prst="roundRect">
            <a:avLst>
              <a:gd name="adj" fmla="val 8889"/>
            </a:avLst>
          </a:prstGeom>
          <a:solidFill>
            <a:srgbClr val="EDE9FE"/>
          </a:solidFill>
          <a:ln w="12700">
            <a:solidFill>
              <a:srgbClr val="EDE9F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1783080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D28D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Tandai sudah diambil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130552"/>
            <a:ext cx="3383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63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Klik setiap kali pemenang maju ke panggung. Statusnya ikut terlihat di layar pemenang.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663440" y="1600200"/>
            <a:ext cx="3931920" cy="1234440"/>
          </a:xfrm>
          <a:prstGeom prst="roundRect">
            <a:avLst>
              <a:gd name="adj" fmla="val 8889"/>
            </a:avLst>
          </a:prstGeom>
          <a:solidFill>
            <a:srgbClr val="EDE9FE"/>
          </a:solidFill>
          <a:ln w="12700">
            <a:solidFill>
              <a:srgbClr val="EDE9FE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937760" y="1783080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D28D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Batalkan pemenang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4937760" y="2130552"/>
            <a:ext cx="3383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63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Untuk yang tidak hadir. Namanya kembali masuk undian dan kuota bertambah lagi.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48640" y="3017520"/>
            <a:ext cx="3931920" cy="1234440"/>
          </a:xfrm>
          <a:prstGeom prst="roundRect">
            <a:avLst>
              <a:gd name="adj" fmla="val 8889"/>
            </a:avLst>
          </a:prstGeom>
          <a:solidFill>
            <a:srgbClr val="EDE9FE"/>
          </a:solidFill>
          <a:ln w="12700">
            <a:solidFill>
              <a:srgbClr val="EDE9FE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22960" y="3200400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D28D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Ulangi undian hadiah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822960" y="3547872"/>
            <a:ext cx="3383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63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Menghapus seluruh pemenang satu hadiah. Dipakai setelah gladi bersih.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663440" y="3017520"/>
            <a:ext cx="3931920" cy="1234440"/>
          </a:xfrm>
          <a:prstGeom prst="roundRect">
            <a:avLst>
              <a:gd name="adj" fmla="val 8889"/>
            </a:avLst>
          </a:prstGeom>
          <a:solidFill>
            <a:srgbClr val="EDE9FE"/>
          </a:solidFill>
          <a:ln w="12700">
            <a:solidFill>
              <a:srgbClr val="EDE9FE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937760" y="3200400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D28D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Ekspor CSV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4937760" y="3547872"/>
            <a:ext cx="3383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63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Laporan lengkap berisi hadiah, NIP, unit, waktu undi, dan status pengambilan.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548640" y="452628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6B63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Simpan hasil ekspor CSV sebagai laporan resmi acara.</a:t>
            </a:r>
            <a:endParaRPr lang="en-US" sz="11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41B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Daftar periksa hari-H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6012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63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Cetak halaman ini dan centang satu per satu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3931920" cy="3063240"/>
          </a:xfrm>
          <a:prstGeom prst="roundRect">
            <a:avLst>
              <a:gd name="adj" fmla="val 3582"/>
            </a:avLst>
          </a:prstGeom>
          <a:solidFill>
            <a:srgbClr val="EDE9FE"/>
          </a:solidFill>
          <a:ln w="12700">
            <a:solidFill>
              <a:srgbClr val="EDE9F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178308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41B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Sebelum acara dimulai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841248" y="2276856"/>
            <a:ext cx="164592" cy="164592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6D28D9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115568" y="224028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41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Layar undian terbuka, tekan F11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841248" y="2660904"/>
            <a:ext cx="164592" cy="164592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6D28D9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1115568" y="2624328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41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Klik Start sekali agar suara diizinkan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841248" y="3044952"/>
            <a:ext cx="164592" cy="164592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6D28D9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1115568" y="3008376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41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Volume speaker sudah dicek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841248" y="3429000"/>
            <a:ext cx="164592" cy="164592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6D28D9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1115568" y="3392424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41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Hadiah pertama sudah dipilih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841248" y="3813048"/>
            <a:ext cx="164592" cy="164592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6D28D9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1115568" y="3776472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41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Kunci menu pindah undian dinyalakan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841248" y="4197096"/>
            <a:ext cx="164592" cy="164592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6D28D9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1115568" y="416052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41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siap di laptop terpisah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4663440" y="1554480"/>
            <a:ext cx="3931920" cy="3063240"/>
          </a:xfrm>
          <a:prstGeom prst="roundRect">
            <a:avLst>
              <a:gd name="adj" fmla="val 3582"/>
            </a:avLst>
          </a:prstGeom>
          <a:solidFill>
            <a:srgbClr val="EDE9FE"/>
          </a:solidFill>
          <a:ln w="12700">
            <a:solidFill>
              <a:srgbClr val="EDE9FE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4937760" y="178308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41B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Selama dan setelah acara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4956048" y="2276856"/>
            <a:ext cx="164592" cy="164592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6D28D9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5230368" y="224028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41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Tandai pemenang yang sudah mengambil hadiah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4956048" y="2660904"/>
            <a:ext cx="164592" cy="164592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6D28D9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5230368" y="2624328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41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Batalkan pemenang yang tidak hadir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4956048" y="3044952"/>
            <a:ext cx="164592" cy="164592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6D28D9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5230368" y="3008376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41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Undi ulang penggantinya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4956048" y="3429000"/>
            <a:ext cx="164592" cy="164592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6D28D9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5230368" y="3392424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41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Ekspor CSV daftar pemenang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4956048" y="3813048"/>
            <a:ext cx="164592" cy="164592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6D28D9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5230368" y="3776472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41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Minta administrator menyimpan cadangan database</a:t>
            </a:r>
            <a:endParaRPr lang="en-US" sz="11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41B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Mengatasi masalah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6012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63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Empat kejadian yang paling sering muncul di lapangan</a:t>
            </a:r>
            <a:endParaRPr lang="en-US" sz="14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54480"/>
          <a:ext cx="804672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5303520"/>
              </a:tblGrid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Gejala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DD6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6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6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6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D28D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Penyebab dan solusi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DD6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6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6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6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D28D9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41B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Pengaturan tidak terlihat berubah di layar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DD6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6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6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6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41B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Halaman undian tidak memantau perubahan. Muat ulang lewat menu pojok kiri bawah.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DD6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6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6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6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41B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Suara tidak berbunyi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DD6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6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6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6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41B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Browser melarang audio sebelum ada klik. Tekan Start dengan mouse sekali. Cek juga saklar Suara.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DD6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6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6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6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41B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Foto hadiah jadi kotak kosong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DD6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6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6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6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41B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Berkas gambar belum tersalin ke server. Hubungi administrator.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DD6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6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6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6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41B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"Tidak ada peserta yang memenuhi syarat"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DD6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6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6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6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41B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Semua sudah pernah menang, atau tersaring grup pengecualian. Periksa keduanya.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DD6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6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6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6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3B07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097280" y="3291840"/>
            <a:ext cx="2743200" cy="2743200"/>
          </a:xfrm>
          <a:prstGeom prst="ellipse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011680" y="123444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PEGANGAN TERAKHIR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2011680" y="1691640"/>
            <a:ext cx="64008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Kalau ragu saat acara</a:t>
            </a:r>
            <a:endParaRPr lang="en-US" sz="30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berlangsung, muat ulang</a:t>
            </a:r>
            <a:endParaRPr lang="en-US" sz="30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halamannya.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2011680" y="3474720"/>
            <a:ext cx="6309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Tidak ada data yang hilang karena memuat ulang. Seluruh peserta, hadiah, dan pemenang tersimpan di server, bukan di browser.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Manual Aplikasi Doorprize</dc:title>
  <dc:subject>PptxGenJS Presentation</dc:subject>
  <dc:creator>Panitia Doorprize</dc:creator>
  <cp:lastModifiedBy>Panitia Doorprize</cp:lastModifiedBy>
  <cp:revision>1</cp:revision>
  <dcterms:created xsi:type="dcterms:W3CDTF">2026-09-07T08:44:08Z</dcterms:created>
  <dcterms:modified xsi:type="dcterms:W3CDTF">2026-09-07T08:44:08Z</dcterms:modified>
</cp:coreProperties>
</file>